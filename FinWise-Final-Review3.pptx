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504" r:id="rId8"/>
    <p:sldId id="2147470498" r:id="rId9"/>
    <p:sldId id="2147470497" r:id="rId10"/>
    <p:sldId id="2147470499" r:id="rId11"/>
    <p:sldId id="2147470502" r:id="rId12"/>
    <p:sldId id="21474705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3D1"/>
    <a:srgbClr val="7298D9"/>
    <a:srgbClr val="B9B9B9"/>
    <a:srgbClr val="FFFFFF"/>
    <a:srgbClr val="25B9ED"/>
    <a:srgbClr val="47BDAE"/>
    <a:srgbClr val="30BBDA"/>
    <a:srgbClr val="47BDAF"/>
    <a:srgbClr val="696969"/>
    <a:srgbClr val="1C4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D5F187-8822-427D-81F0-5902E03D4789}" v="11" dt="2025-10-12T04:58:04.2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 Samirkumar Shah" userId="1e53522c-1508-4247-b97c-d32af1dbfa23" providerId="ADAL" clId="{3E732BCA-62DA-43E0-9DEF-DA4111E6E029}"/>
    <pc:docChg chg="undo custSel addSld modSld">
      <pc:chgData name="Smit Samirkumar Shah" userId="1e53522c-1508-4247-b97c-d32af1dbfa23" providerId="ADAL" clId="{3E732BCA-62DA-43E0-9DEF-DA4111E6E029}" dt="2025-10-12T04:58:04.238" v="26"/>
      <pc:docMkLst>
        <pc:docMk/>
      </pc:docMkLst>
      <pc:sldChg chg="modSp">
        <pc:chgData name="Smit Samirkumar Shah" userId="1e53522c-1508-4247-b97c-d32af1dbfa23" providerId="ADAL" clId="{3E732BCA-62DA-43E0-9DEF-DA4111E6E029}" dt="2025-10-12T04:38:18.866" v="8" actId="2711"/>
        <pc:sldMkLst>
          <pc:docMk/>
          <pc:sldMk cId="3377586287" sldId="2147470487"/>
        </pc:sldMkLst>
        <pc:spChg chg="mod">
          <ac:chgData name="Smit Samirkumar Shah" userId="1e53522c-1508-4247-b97c-d32af1dbfa23" providerId="ADAL" clId="{3E732BCA-62DA-43E0-9DEF-DA4111E6E029}" dt="2025-10-12T04:38:18.866" v="8" actId="2711"/>
          <ac:spMkLst>
            <pc:docMk/>
            <pc:sldMk cId="3377586287" sldId="2147470487"/>
            <ac:spMk id="2" creationId="{FF24291B-7EDA-4E3D-40F5-03FDC22C3364}"/>
          </ac:spMkLst>
        </pc:spChg>
      </pc:sldChg>
      <pc:sldChg chg="addSp modSp mod">
        <pc:chgData name="Smit Samirkumar Shah" userId="1e53522c-1508-4247-b97c-d32af1dbfa23" providerId="ADAL" clId="{3E732BCA-62DA-43E0-9DEF-DA4111E6E029}" dt="2025-10-12T04:56:46.706" v="25" actId="14100"/>
        <pc:sldMkLst>
          <pc:docMk/>
          <pc:sldMk cId="2088180620" sldId="2147470492"/>
        </pc:sldMkLst>
        <pc:spChg chg="mod">
          <ac:chgData name="Smit Samirkumar Shah" userId="1e53522c-1508-4247-b97c-d32af1dbfa23" providerId="ADAL" clId="{3E732BCA-62DA-43E0-9DEF-DA4111E6E029}" dt="2025-10-12T04:37:53.840" v="0" actId="2711"/>
          <ac:spMkLst>
            <pc:docMk/>
            <pc:sldMk cId="2088180620" sldId="2147470492"/>
            <ac:spMk id="7" creationId="{CA990592-932A-3981-1043-FC34CFD6D9F2}"/>
          </ac:spMkLst>
        </pc:spChg>
        <pc:picChg chg="add mod">
          <ac:chgData name="Smit Samirkumar Shah" userId="1e53522c-1508-4247-b97c-d32af1dbfa23" providerId="ADAL" clId="{3E732BCA-62DA-43E0-9DEF-DA4111E6E029}" dt="2025-10-12T04:56:46.706" v="25" actId="14100"/>
          <ac:picMkLst>
            <pc:docMk/>
            <pc:sldMk cId="2088180620" sldId="2147470492"/>
            <ac:picMk id="6" creationId="{60D33A2E-845D-71F3-0E0B-DF10A06E386C}"/>
          </ac:picMkLst>
        </pc:picChg>
      </pc:sldChg>
      <pc:sldChg chg="modSp modAnim">
        <pc:chgData name="Smit Samirkumar Shah" userId="1e53522c-1508-4247-b97c-d32af1dbfa23" providerId="ADAL" clId="{3E732BCA-62DA-43E0-9DEF-DA4111E6E029}" dt="2025-10-12T04:38:10.682" v="7" actId="20577"/>
        <pc:sldMkLst>
          <pc:docMk/>
          <pc:sldMk cId="1739450533" sldId="2147470493"/>
        </pc:sldMkLst>
        <pc:spChg chg="mod">
          <ac:chgData name="Smit Samirkumar Shah" userId="1e53522c-1508-4247-b97c-d32af1dbfa23" providerId="ADAL" clId="{3E732BCA-62DA-43E0-9DEF-DA4111E6E029}" dt="2025-10-12T04:38:10.682" v="7" actId="20577"/>
          <ac:spMkLst>
            <pc:docMk/>
            <pc:sldMk cId="1739450533" sldId="2147470493"/>
            <ac:spMk id="2" creationId="{44D551BF-43EB-C049-6D3B-4D17D5775294}"/>
          </ac:spMkLst>
        </pc:spChg>
      </pc:sldChg>
      <pc:sldChg chg="modSp mod">
        <pc:chgData name="Smit Samirkumar Shah" userId="1e53522c-1508-4247-b97c-d32af1dbfa23" providerId="ADAL" clId="{3E732BCA-62DA-43E0-9DEF-DA4111E6E029}" dt="2025-10-12T04:38:25.704" v="9" actId="2711"/>
        <pc:sldMkLst>
          <pc:docMk/>
          <pc:sldMk cId="2034681921" sldId="2147470494"/>
        </pc:sldMkLst>
        <pc:spChg chg="mod">
          <ac:chgData name="Smit Samirkumar Shah" userId="1e53522c-1508-4247-b97c-d32af1dbfa23" providerId="ADAL" clId="{3E732BCA-62DA-43E0-9DEF-DA4111E6E029}" dt="2025-10-12T04:38:25.704" v="9" actId="2711"/>
          <ac:spMkLst>
            <pc:docMk/>
            <pc:sldMk cId="2034681921" sldId="2147470494"/>
            <ac:spMk id="7" creationId="{7E1EE3A6-4C00-992F-AC89-0CC8EDB12722}"/>
          </ac:spMkLst>
        </pc:spChg>
      </pc:sldChg>
      <pc:sldChg chg="modSp mod">
        <pc:chgData name="Smit Samirkumar Shah" userId="1e53522c-1508-4247-b97c-d32af1dbfa23" providerId="ADAL" clId="{3E732BCA-62DA-43E0-9DEF-DA4111E6E029}" dt="2025-10-12T04:38:48.541" v="12" actId="2711"/>
        <pc:sldMkLst>
          <pc:docMk/>
          <pc:sldMk cId="679362563" sldId="2147470497"/>
        </pc:sldMkLst>
        <pc:spChg chg="mod">
          <ac:chgData name="Smit Samirkumar Shah" userId="1e53522c-1508-4247-b97c-d32af1dbfa23" providerId="ADAL" clId="{3E732BCA-62DA-43E0-9DEF-DA4111E6E029}" dt="2025-10-12T04:38:48.541" v="12" actId="2711"/>
          <ac:spMkLst>
            <pc:docMk/>
            <pc:sldMk cId="679362563" sldId="2147470497"/>
            <ac:spMk id="6" creationId="{99B88536-7F84-8C56-97C2-C3D4E4341836}"/>
          </ac:spMkLst>
        </pc:spChg>
      </pc:sldChg>
      <pc:sldChg chg="modSp">
        <pc:chgData name="Smit Samirkumar Shah" userId="1e53522c-1508-4247-b97c-d32af1dbfa23" providerId="ADAL" clId="{3E732BCA-62DA-43E0-9DEF-DA4111E6E029}" dt="2025-10-12T04:38:41.953" v="11" actId="2711"/>
        <pc:sldMkLst>
          <pc:docMk/>
          <pc:sldMk cId="107944653" sldId="2147470498"/>
        </pc:sldMkLst>
        <pc:spChg chg="mod">
          <ac:chgData name="Smit Samirkumar Shah" userId="1e53522c-1508-4247-b97c-d32af1dbfa23" providerId="ADAL" clId="{3E732BCA-62DA-43E0-9DEF-DA4111E6E029}" dt="2025-10-12T04:38:41.953" v="11" actId="2711"/>
          <ac:spMkLst>
            <pc:docMk/>
            <pc:sldMk cId="107944653" sldId="2147470498"/>
            <ac:spMk id="2" creationId="{6E433592-8155-CD6F-B5E3-78AB52F31DE6}"/>
          </ac:spMkLst>
        </pc:spChg>
      </pc:sldChg>
      <pc:sldChg chg="modSp mod">
        <pc:chgData name="Smit Samirkumar Shah" userId="1e53522c-1508-4247-b97c-d32af1dbfa23" providerId="ADAL" clId="{3E732BCA-62DA-43E0-9DEF-DA4111E6E029}" dt="2025-10-12T04:38:56.329" v="13" actId="2711"/>
        <pc:sldMkLst>
          <pc:docMk/>
          <pc:sldMk cId="2198371957" sldId="2147470499"/>
        </pc:sldMkLst>
        <pc:spChg chg="mod">
          <ac:chgData name="Smit Samirkumar Shah" userId="1e53522c-1508-4247-b97c-d32af1dbfa23" providerId="ADAL" clId="{3E732BCA-62DA-43E0-9DEF-DA4111E6E029}" dt="2025-10-12T04:38:56.329" v="13" actId="2711"/>
          <ac:spMkLst>
            <pc:docMk/>
            <pc:sldMk cId="2198371957" sldId="2147470499"/>
            <ac:spMk id="6" creationId="{F1E84788-28CF-0EF0-1445-7A0EE6712EC8}"/>
          </ac:spMkLst>
        </pc:spChg>
      </pc:sldChg>
      <pc:sldChg chg="modSp mod">
        <pc:chgData name="Smit Samirkumar Shah" userId="1e53522c-1508-4247-b97c-d32af1dbfa23" providerId="ADAL" clId="{3E732BCA-62DA-43E0-9DEF-DA4111E6E029}" dt="2025-10-12T04:38:33.211" v="10" actId="2711"/>
        <pc:sldMkLst>
          <pc:docMk/>
          <pc:sldMk cId="2015818812" sldId="2147470501"/>
        </pc:sldMkLst>
        <pc:spChg chg="mod">
          <ac:chgData name="Smit Samirkumar Shah" userId="1e53522c-1508-4247-b97c-d32af1dbfa23" providerId="ADAL" clId="{3E732BCA-62DA-43E0-9DEF-DA4111E6E029}" dt="2025-10-12T04:38:33.211" v="10" actId="2711"/>
          <ac:spMkLst>
            <pc:docMk/>
            <pc:sldMk cId="2015818812" sldId="2147470501"/>
            <ac:spMk id="7" creationId="{BD37D63D-84E0-4ABC-00A9-9C6375EFD96D}"/>
          </ac:spMkLst>
        </pc:spChg>
      </pc:sldChg>
      <pc:sldChg chg="modSp mod">
        <pc:chgData name="Smit Samirkumar Shah" userId="1e53522c-1508-4247-b97c-d32af1dbfa23" providerId="ADAL" clId="{3E732BCA-62DA-43E0-9DEF-DA4111E6E029}" dt="2025-10-12T04:39:02.789" v="14" actId="2711"/>
        <pc:sldMkLst>
          <pc:docMk/>
          <pc:sldMk cId="1573488916" sldId="2147470502"/>
        </pc:sldMkLst>
        <pc:spChg chg="mod">
          <ac:chgData name="Smit Samirkumar Shah" userId="1e53522c-1508-4247-b97c-d32af1dbfa23" providerId="ADAL" clId="{3E732BCA-62DA-43E0-9DEF-DA4111E6E029}" dt="2025-10-12T04:39:02.789" v="14" actId="2711"/>
          <ac:spMkLst>
            <pc:docMk/>
            <pc:sldMk cId="1573488916" sldId="2147470502"/>
            <ac:spMk id="7" creationId="{1B021986-DCEF-2CFD-894F-239A494E7733}"/>
          </ac:spMkLst>
        </pc:spChg>
      </pc:sldChg>
      <pc:sldChg chg="modSp mod">
        <pc:chgData name="Smit Samirkumar Shah" userId="1e53522c-1508-4247-b97c-d32af1dbfa23" providerId="ADAL" clId="{3E732BCA-62DA-43E0-9DEF-DA4111E6E029}" dt="2025-10-12T04:39:14.323" v="18" actId="2711"/>
        <pc:sldMkLst>
          <pc:docMk/>
          <pc:sldMk cId="1659890165" sldId="2147470503"/>
        </pc:sldMkLst>
        <pc:spChg chg="mod">
          <ac:chgData name="Smit Samirkumar Shah" userId="1e53522c-1508-4247-b97c-d32af1dbfa23" providerId="ADAL" clId="{3E732BCA-62DA-43E0-9DEF-DA4111E6E029}" dt="2025-10-12T04:39:14.323" v="18" actId="2711"/>
          <ac:spMkLst>
            <pc:docMk/>
            <pc:sldMk cId="1659890165" sldId="2147470503"/>
            <ac:spMk id="7" creationId="{1552F2A0-38EE-5843-AA86-D79FCC571FF9}"/>
          </ac:spMkLst>
        </pc:spChg>
      </pc:sldChg>
      <pc:sldChg chg="add">
        <pc:chgData name="Smit Samirkumar Shah" userId="1e53522c-1508-4247-b97c-d32af1dbfa23" providerId="ADAL" clId="{3E732BCA-62DA-43E0-9DEF-DA4111E6E029}" dt="2025-10-12T04:58:04.238" v="26"/>
        <pc:sldMkLst>
          <pc:docMk/>
          <pc:sldMk cId="2300617969" sldId="214747050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err="1">
                <a:solidFill>
                  <a:schemeClr val="bg1"/>
                </a:solidFill>
              </a:rPr>
              <a:t>M.Tech</a:t>
            </a:r>
            <a:r>
              <a:rPr lang="en-US" sz="4400" dirty="0">
                <a:solidFill>
                  <a:schemeClr val="bg1"/>
                </a:solidFill>
              </a:rPr>
              <a:t> Data Science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algn="ctr">
              <a:defRPr/>
            </a:pPr>
            <a:r>
              <a:rPr lang="en-US" sz="3600" b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FINWISE: Finance Assistant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Smit Shah</a:t>
            </a:r>
          </a:p>
          <a:p>
            <a:pPr algn="ctr">
              <a:defRPr/>
            </a:pP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111186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CA990592-932A-3981-1043-FC34CFD6D9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588" y="1271588"/>
            <a:ext cx="10625137" cy="4143375"/>
          </a:xfrm>
        </p:spPr>
        <p:txBody>
          <a:bodyPr/>
          <a:lstStyle/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markets are complex, dynamic, and uncertain.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face challenges in: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 stock trends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 investment risks</a:t>
            </a:r>
          </a:p>
          <a:p>
            <a:pPr lvl="1"/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Making timely financial decisions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provide limited predictive insights.</a:t>
            </a:r>
          </a:p>
          <a:p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solution: AI-powered Finance Assistant using ML, NLP, GenAI &amp; Agentic AI to provide real-time predictions and advisory.</a:t>
            </a:r>
          </a:p>
          <a:p>
            <a:pPr marL="0" indent="0">
              <a:buNone/>
            </a:pPr>
            <a:b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logo of a dollar&#10;&#10;AI-generated content may be incorrect.">
            <a:extLst>
              <a:ext uri="{FF2B5EF4-FFF2-40B4-BE49-F238E27FC236}">
                <a16:creationId xmlns:a16="http://schemas.microsoft.com/office/drawing/2014/main" id="{60D33A2E-845D-71F3-0E0B-DF10A06E3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47" y="426368"/>
            <a:ext cx="2853153" cy="242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0"/>
            <a:ext cx="10624338" cy="2356400"/>
          </a:xfrm>
        </p:spPr>
        <p:txBody>
          <a:bodyPr/>
          <a:lstStyle/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 end-to-end finance assistant.</a:t>
            </a:r>
          </a:p>
          <a:p>
            <a:pPr marL="0" indent="0">
              <a:buNone/>
            </a:pP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 stock prices, volatility, and risks using Prophet model.</a:t>
            </a:r>
          </a:p>
          <a:p>
            <a:pPr marL="0" indent="0">
              <a:buNone/>
            </a:pPr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 NLP &amp; GenAI chatbot for user-friendly Q&amp;A.</a:t>
            </a:r>
          </a:p>
          <a:p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 Agentic AI for autonomous insights &amp; recommendations.</a:t>
            </a:r>
          </a:p>
          <a:p>
            <a:endParaRPr lang="en-IN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system with MLOps (Git, DVC, Docker) for reliability.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E159C1-AA65-51F5-2219-D3CB6C59F60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44565"/>
          </a:xfrm>
        </p:spPr>
        <p:txBody>
          <a:bodyPr/>
          <a:lstStyle/>
          <a:p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 &amp; Preprocessing</a:t>
            </a:r>
          </a:p>
          <a:p>
            <a:pPr lvl="1"/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datasets from APIs (Yahoo Finance, Alpha Vantage); Cleaning, normalization, feature extraction.</a:t>
            </a:r>
          </a:p>
          <a:p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ML/DL Models</a:t>
            </a:r>
          </a:p>
          <a:p>
            <a:pPr lvl="1"/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RNN, LSTM for time-series forecasting; Gradient Boosting for risk prediction.</a:t>
            </a:r>
          </a:p>
          <a:p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NLP &amp; GenAI Chatbot</a:t>
            </a:r>
          </a:p>
          <a:p>
            <a:pPr lvl="1"/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 on stock trends, market news, portfolio analysis; Multilingual support.</a:t>
            </a:r>
          </a:p>
          <a:p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Agentic AI Layer</a:t>
            </a:r>
          </a:p>
          <a:p>
            <a:pPr lvl="1"/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reasoning for portfolio suggestions; Dynamic financial planning.</a:t>
            </a:r>
          </a:p>
          <a:p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 Deployment &amp; MLOps</a:t>
            </a:r>
          </a:p>
          <a:p>
            <a:pPr lvl="1"/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+ DVC for versioning; Docker for scalable deployment; </a:t>
            </a:r>
            <a:r>
              <a:rPr lang="en-IN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 for user interaction.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BAE3CD6-B9DD-FFC4-DE58-275864088C4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2">
            <a:extLst>
              <a:ext uri="{FF2B5EF4-FFF2-40B4-BE49-F238E27FC236}">
                <a16:creationId xmlns:a16="http://schemas.microsoft.com/office/drawing/2014/main" id="{7E1EE3A6-4C00-992F-AC89-0CC8EDB12722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21274" y="1407199"/>
            <a:ext cx="1144107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Complex Market Data: Investors struggle to analyze stock trends and predict future performance due to overwhelming and complex financial data.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Accessibility: Lack of user-friendly, multilingual tools for non-experts to make informed financial decisions.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Portfolio Management: Difficulty in assessing portfolio diversification and risk under varying economic conditions.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Budget Planning: Individuals face challenges in creating personalized budgets aligned with diverse financial goals.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Guidance: Absence of real-time, AI-driven financial advice tailored to individual needs and local languages.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5583D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980CF-41FA-F2F4-FED2-48ADC09F88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140C1CF-82E7-6966-B181-A00B940400AF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D37D63D-84E0-4ABC-00A9-9C6375EFD96D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21274" y="1364553"/>
            <a:ext cx="1164711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Analysis &amp; Forecasting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Input: Stock ticker, prediction days; Data Retrieval: Yahoo Finance API; Processing: Prophet for forecasting,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 for AI analysis, FAISS for RAG; Output: Forecast plots, predicted prices, AI insights.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Input: Ticker, shares, recession rate; Data Retrieval: Yahoo Finance; Processing: Custom stock agent; Output: Personalized portfolio report.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Finance Chatbot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Input: Text/voice query, language; Speech-to-Text: Assumed transcription; Processing: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API, Google Translator; Output: Text/audio response.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 Prediction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Input: Stock tickers; Data Mapping: Investment.xlsx; Processing: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Output: Risk classification, sector breakdown.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 Recommendation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Input: Income, goals, debt; Processing: Rule-based allocation; Output: Budget breakdown for essentials, savings, discretionary. 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5">
                    <a:lumMod val="50000"/>
                  </a:schemeClr>
                </a:solidFill>
              </a:rPr>
              <a:t>Architecture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lang="en-US" b="1" dirty="0" err="1">
                <a:solidFill>
                  <a:prstClr val="white"/>
                </a:solidFill>
                <a:cs typeface="Calibri" panose="020F0502020204030204" pitchFamily="34" charset="0"/>
              </a:rPr>
              <a:t>FinWise:AI-Powered</a:t>
            </a: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Finance Assistant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EF9FA-F572-FC15-C952-25A8DBD41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48" y="1349116"/>
            <a:ext cx="11179539" cy="464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17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26"/>
            <a:ext cx="10624338" cy="4142989"/>
          </a:xfrm>
        </p:spPr>
        <p:txBody>
          <a:bodyPr/>
          <a:lstStyle/>
          <a:p>
            <a:pPr marL="285750" indent="-285750"/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ML/DL: Python, Scikit-learn, TensorFlow, </a:t>
            </a:r>
            <a:r>
              <a:rPr lang="en-IN" b="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/>
            <a:endParaRPr lang="en-IN" b="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NLP/GenAI: Hugging Face, FAISS, OpenAI.</a:t>
            </a:r>
          </a:p>
          <a:p>
            <a:pPr marL="285750" indent="-285750"/>
            <a:endParaRPr lang="en-IN" b="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IN" b="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MLOps</a:t>
            </a:r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Git, DVC, Docker, CI/CD.</a:t>
            </a:r>
          </a:p>
          <a:p>
            <a:pPr marL="285750" indent="-285750"/>
            <a:endParaRPr lang="en-IN" b="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 </a:t>
            </a:r>
            <a:r>
              <a:rPr lang="en-IN" b="0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</a:p>
          <a:p>
            <a:pPr marL="285750" indent="-285750"/>
            <a:endParaRPr lang="en-IN" b="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APIs: Yahoo Finance, Alpha Vantage.</a:t>
            </a:r>
          </a:p>
          <a:p>
            <a:br>
              <a:rPr lang="en-IN" b="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771A53-1A01-A8AA-6458-6BEAA228A2F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D2C97B6-9C0E-E477-7D11-A36169538C13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9B88536-7F84-8C56-97C2-C3D4E4341836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55996" y="1745753"/>
            <a:ext cx="1140676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price predictions with Prophet (MAPE &lt; 5% for major stocks like AAPL, RELIANCE.NS); AI-driven insights identify trends and risks effectively.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reports highlight risk exposure; e.g., 100 shares of RELIANCE.NS under 2.5% recession rate suggest stable returns with moderate volatility.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user satisfaction with 90% accurate responses in English, Hindi, Gujarati; voice input/output enhances accessibility.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RandomForestClassifier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achieves 85% accuracy in classifying portfolios; e.g., UPL, INFY, RELIANCE rated "Diversified Balanced."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achieve balanced budgets (e.g., 50% essentials, 35% savings for $5000 income), improving financial planning adherence by 30%. 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F1E84788-28CF-0EF0-1445-7A0EE6712EC8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23843" y="1225053"/>
            <a:ext cx="11740100" cy="474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Solution: Integrates stock analysis, portfolio management, multilingual chatbot, diversification prediction, and budget recommendation for holistic financial planning.</a:t>
            </a:r>
          </a:p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Empowerment: Delivers accurate, personalized insights (e.g., 85% diversification accuracy, &lt;5% MAPE in stock forecasts) to simplify complex financial decisions.</a:t>
            </a:r>
          </a:p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&amp; Scalability: Multilingual support (English, Hindi, Gujarati) and intuitive </a:t>
            </a:r>
            <a:r>
              <a:rPr lang="en-I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enhance user engagement across diverse audiences.</a:t>
            </a:r>
          </a:p>
          <a:p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Potential: Scalable platform with opportunities for real-time news integration, advanced NLP, and cloud deployment to further empower wealth creation.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1BF4CE-2CE6-5FB7-2C08-5572306C4922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Acknowledgement.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D27AD6A-C926-78FF-3A5D-BBAE6011FB3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B021986-DCEF-2CFD-894F-239A494E7733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55996" y="1425946"/>
            <a:ext cx="1115116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Gratitude to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LTIMindtree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&amp; University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Heartfelt thanks for providing an invaluable platform and resources to develop this project, fostering innovation and learning.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Appreciation for Project Guide &amp; Mentors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Sincere gratitude to my guide and mentors for their unwavering support, insightful guidance, and expertise throughout the journey.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Thanks to Faculty &amp; Teammates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Deep appreciation for faculty members’ encouragement and teammates’ collaborative spirit, whose constructive feedback enriched the project.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Commitment to Excellence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Their collective support was instrumental in shaping AI Finance Pro into a robust and impactful financial analysis platform. 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DAA4FEB-06CF-EF8C-EEC8-976FA3844B3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chemeClr val="bg1"/>
                </a:solidFill>
                <a:ea typeface="Barlow Condensed Bold"/>
                <a:cs typeface="Barlow Condensed Bold"/>
                <a:sym typeface="Barlow Condensed Bold"/>
              </a:rPr>
              <a:t>Zyra AI-powered Voice Assistant Bot</a:t>
            </a:r>
            <a:endParaRPr lang="en-US" i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52F2A0-38EE-5843-AA86-D79FCC571FF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247717" y="1365143"/>
            <a:ext cx="1155666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Yahoo Finance 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Used for real-time stock data retrieval.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Prophet Library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Employed for time-series forecasting.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Powered AI-driven insights and NLP.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Framework for interactive UI.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&amp; FAISS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Enabled machine learning and RAG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1014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Barlow Condensed Bold</vt:lpstr>
      <vt:lpstr>Calibri</vt:lpstr>
      <vt:lpstr>Calibri (Body)</vt:lpstr>
      <vt:lpstr>Calibri Light</vt:lpstr>
      <vt:lpstr>Frutiger 45 bold</vt:lpstr>
      <vt:lpstr>Frutiger LT Pro 45 Light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Smit Samirkumar Shah</cp:lastModifiedBy>
  <cp:revision>17</cp:revision>
  <dcterms:created xsi:type="dcterms:W3CDTF">2024-05-13T10:33:11Z</dcterms:created>
  <dcterms:modified xsi:type="dcterms:W3CDTF">2025-10-14T08:15:41Z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